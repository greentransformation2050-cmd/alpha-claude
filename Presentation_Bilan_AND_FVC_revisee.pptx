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Madame la Ministre, je vous présente le bilan de l'engagement de la Guinée avec le Fonds Vert pour le Climat. Le message tient en une phrase : nous avons d'abord rétabli les fondations, puis livré nos premiers résultats d'accès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l'écart entre l'ambition affichée et la capacité réelle d'exécution. C'est précisément cet écart que l'AND a été chargée de réduire — et c'est la grille de lecture de tout le bilan.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la séquence était nécessaire : sans la reconstruction de la phase 1, la soumission de la phase 2 aurait été impossible. Ce n'est pas du retard, c'est une mise en ordre préalable.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sont les cinq points à retenir de toute la présentation. Chacun est adossé à des livrables et des preuves ; ce ne sont pas des intentions mais des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Souligner le double statut de ce projet : c'est à la fois un financement et un levier pour clarifier et renforcer le mandat de l'AND. Être clair : le projet n'est pas encore approuvé.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ces points sans les masquer, y compris l'échec du FMCA : c'est un enseignement, pas une faute. Chaque obstacle renvoie à une décision précise, reprise dans les recommandations.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progrès sont réels, mais la gouvernance opérationnelle reste le talon d'Achille de l'AND. Souligner que le conflit d'intérêts ANAFIC/AND est désormais résolu : séparation effective des rôles, examinateur tiers indépendant. Restent le mandat juridique et la capacité administrative.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message : l'effort engagé ne produit pas des documents éphémères mais un capital institutionnel durable, qui servira au-delà de ce seul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Situer l'enjeu : ce pipeline représente un potentiel de plusieurs centaines de millions USD si la préparation aboutit — sous réserve expresse de l'accréditation et de la qualité des dossiers. Rester prudent sur les montants, qui sont indicatifs.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Clôturer sur l'appel à décision : trois validations conditionnent la suite du programme. Préciser que la séparation des rôles ANAFIC/AND est désormais résolue et formalisée — elle ne figure plus parmi les arbitrages demandés. Terminer par l'engagement de l'AND à exécuter dès l'aval de Madame la Ministre.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en quatre blocs : progrès majeurs, point de blocage résolu (séparation ANAFIC/AND), défis persistants (mandat, FMCA), et les trois décisions clés attendues.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Madame la Ministre et réaffirmer l'engagement de l'AND-FVC à exécuter le programme de transformation dès son aval.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55448" cy="23317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66928"/>
            <a:ext cx="155448" cy="23317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66928"/>
            <a:ext cx="155448" cy="233172"/>
          </a:xfrm>
          <a:prstGeom prst="rect">
            <a:avLst/>
          </a:prstGeom>
          <a:solidFill>
            <a:srgbClr val="00946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5303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DE GUINÉE  ·  TRAVAIL – JUSTICE – SOLIDARITÉ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43000" y="8503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L'ENVIRONNEMENT ET DU DÉVELOPPEMENT DURABLE (MEDD)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des activités de l'Autorité Nationale Désignée (AND-FVC)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822960" y="33649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de la Guinée avec le Fonds Vert pour le Climat — 2025 · S1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502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gouvernance opérationnelle : d'une AND à reconstruire à une AND qui soumet ses premiers dossiers d'accès direct.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DESTINATAIRE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623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Madame la Ministre du MEDD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5623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Secrétariat Exécutif de l'AND-FVC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5623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Orienté résultats et décisions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CONTEXTE ET POINT DE DÉPART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ambition forte, une capacité d'exécution à reconstruire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EA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73936"/>
            <a:ext cx="502920" cy="502920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9046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 NATIONALE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487168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3.0 active au registre de la CCNUCC (nov. 2025) : −17 % inconditionnel, jusqu'à −49 % sous condition d'appui extérieur.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Secteurs clés : énergie, forêt, agriculture intelligente.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de Plan National d'Adaptation (PNA) : 7 engagements d'adaptation prioritaires.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481328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4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773936"/>
            <a:ext cx="502920" cy="502920"/>
          </a:xfrm>
          <a:prstGeom prst="ellipse">
            <a:avLst/>
          </a:prstGeom>
          <a:solidFill>
            <a:srgbClr val="CE11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190469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HÉRITÉE EN 2025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487168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passation structurée et de mémoire institutionnelle.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défaillant, documentation dispersée.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entité nationale accréditée auprès du FVC.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interinstitutionnelle ad hoc, sans cadre permanent.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0603A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L'écart entre l'ambition et la capacité d'exécution : c'est le problème que l'AND a été chargée de réduire.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 DÉMARCHE — DE LA RECONSTRUCTION À LA LIVRAISON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trajectoire délibérée en deux temps : réparer les fondations, produire des résultats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3717036"/>
            <a:ext cx="4206240" cy="64008"/>
          </a:xfrm>
          <a:prstGeom prst="rect">
            <a:avLst/>
          </a:prstGeom>
          <a:solidFill>
            <a:srgbClr val="9CC3A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3717036"/>
            <a:ext cx="6355080" cy="64008"/>
          </a:xfrm>
          <a:prstGeom prst="rect">
            <a:avLst/>
          </a:prstGeom>
          <a:solidFill>
            <a:srgbClr val="106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72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RECONSTRUCTION (2025)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94960" y="1572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CONSOLIDATION ET LIVRAISON (S1 2026)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71016" y="3648456"/>
            <a:ext cx="201168" cy="201168"/>
          </a:xfrm>
          <a:prstGeom prst="ellipse">
            <a:avLst/>
          </a:prstGeom>
          <a:solidFill>
            <a:srgbClr val="6E8A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: dossiers, évaluation institutionnelle, dialogue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94176" y="3648456"/>
            <a:ext cx="201168" cy="201168"/>
          </a:xfrm>
          <a:prstGeom prst="ellipse">
            <a:avLst/>
          </a:prstGeom>
          <a:solidFill>
            <a:srgbClr val="6E8A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0340" y="4005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8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2025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20340" y="4279392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Songdo + COP30 : engagement Secrétariat FVC, appui ANAFIC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3648456"/>
            <a:ext cx="201168" cy="201168"/>
          </a:xfrm>
          <a:prstGeom prst="ellipse">
            <a:avLst/>
          </a:prstGeom>
          <a:solidFill>
            <a:srgbClr val="106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350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43500" y="2286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templates FVC, logframe pays, séquence GCF Partner Portal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0496" y="3648456"/>
            <a:ext cx="201168" cy="201168"/>
          </a:xfrm>
          <a:prstGeom prst="ellipse">
            <a:avLst/>
          </a:prstGeom>
          <a:solidFill>
            <a:srgbClr val="106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6660" y="4005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juin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66660" y="4279392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de la proposition d'accès direct iPMS#42160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963656" y="3648456"/>
            <a:ext cx="201168" cy="201168"/>
          </a:xfrm>
          <a:prstGeom prst="ellipse">
            <a:avLst/>
          </a:prstGeom>
          <a:solidFill>
            <a:srgbClr val="106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juin 2026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82912" y="2286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FVC : ouverture du tracker de révision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85216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8521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la reconstruction de la phase 1, la soumission de la phase 2 aurait été impossible : une mise en ordre préalable, pas un retard.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RÉALISATIONS PHARES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résultats qui repositionnent la Guinée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EAF3EE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1920240"/>
            <a:ext cx="621792" cy="621792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686" y="208190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formelle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566160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d'accès direct de la Guinée déposée — référence iPMS#42160 (11 juin 2026).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07208" y="160020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EAF3EE"/>
          </a:solidFill>
          <a:ln/>
        </p:spPr>
      </p:sp>
      <p:sp>
        <p:nvSpPr>
          <p:cNvPr id="11" name="Shape 8"/>
          <p:cNvSpPr/>
          <p:nvPr/>
        </p:nvSpPr>
        <p:spPr>
          <a:xfrm>
            <a:off x="3561588" y="1920240"/>
            <a:ext cx="621792" cy="621792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254" y="208190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6936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44368" y="274320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Readiness 2,76 M$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44368" y="3566160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national préparé et quasi finalisé ; deux commentaires techniques restants.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65776" y="160020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EAF3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820156" y="1920240"/>
            <a:ext cx="621792" cy="621792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822" y="2081906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202936" y="274320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ANAFIC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202936" y="3566160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documents revus, registre des écarts, feuille de route corrective, matrice preuves-actions.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24344" y="160020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EAF3EE"/>
          </a:solidFill>
          <a:ln/>
        </p:spPr>
      </p:sp>
      <p:sp>
        <p:nvSpPr>
          <p:cNvPr id="23" name="Shape 18"/>
          <p:cNvSpPr/>
          <p:nvPr/>
        </p:nvSpPr>
        <p:spPr>
          <a:xfrm>
            <a:off x="8078724" y="1920240"/>
            <a:ext cx="621792" cy="621792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390" y="2081906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34072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61504" y="274320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national 5 jours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461504" y="3566160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 des capacités ; appropriation nationale des processus du FVC restaurée.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582912" y="160020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EAF3EE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37292" y="1920240"/>
            <a:ext cx="621792" cy="621792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958" y="2081906"/>
            <a:ext cx="298460" cy="2984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92640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C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720072" y="2743200"/>
            <a:ext cx="1856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réactivé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720072" y="3566160"/>
            <a:ext cx="1856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Ministères, ANAFIC, Access Bank, FAO, CNT et Secrétariat du FVC (Songdo, COP30).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580644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L'AND a transformé un diagnostic en résultats vérifiables et documentés — des livrables et des preuves, pas des intentions.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LE PROJET STRUCTURANT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d'accès direct : 2,76 M$ sur 36 mois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2 768 488 USD — 100 % accès direct (Country Window), 36 mois.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Autorité stratégique : AND / MEDD ; delivery partner : ANAFIC.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OBJECTIFS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871216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nationale du financement climatique + plateforme interinstitutionnelle.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projets climatiques transformationnels et bancables.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des connaissances et coopération régionale / Sud-Sud.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80060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FFF7D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9560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523036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commentaires restants (cadre logique GCF Partner Portal, ajustements budgétaires). Validation attendue sous quelques semaines — projet non encore approuvé.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6540" y="2125980"/>
            <a:ext cx="1623060" cy="1394460"/>
          </a:xfrm>
          <a:prstGeom prst="line">
            <a:avLst/>
          </a:prstGeom>
          <a:noFill/>
          <a:ln w="22225">
            <a:solidFill>
              <a:srgbClr val="9CC3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8229600" y="2125980"/>
            <a:ext cx="2125980" cy="1394460"/>
          </a:xfrm>
          <a:prstGeom prst="line">
            <a:avLst/>
          </a:prstGeom>
          <a:noFill/>
          <a:ln w="22225">
            <a:solidFill>
              <a:srgbClr val="9CC3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6606540" y="3520440"/>
            <a:ext cx="1623060" cy="1577340"/>
          </a:xfrm>
          <a:prstGeom prst="line">
            <a:avLst/>
          </a:prstGeom>
          <a:noFill/>
          <a:ln w="22225">
            <a:solidFill>
              <a:srgbClr val="9CC3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3520440"/>
            <a:ext cx="2125980" cy="1577340"/>
          </a:xfrm>
          <a:prstGeom prst="line">
            <a:avLst/>
          </a:prstGeom>
          <a:noFill/>
          <a:ln w="22225">
            <a:solidFill>
              <a:srgbClr val="9CC3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160020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 w="12700">
            <a:solidFill>
              <a:srgbClr val="D7E3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0408" y="16916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ANAFIC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50408" y="1984248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+ accréditation publique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89720" y="160020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 w="12700">
            <a:solidFill>
              <a:srgbClr val="D7E3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16916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BANK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99448" y="1984248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Accréditation privée · conseiller résident 120 jours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40680" y="457200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 w="12700">
            <a:solidFill>
              <a:srgbClr val="D7E3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46634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50408" y="4956048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budgétaire · CPEIR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89720" y="4572000"/>
            <a:ext cx="2331720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 w="12700">
            <a:solidFill>
              <a:srgbClr val="D7E3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9448" y="46634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BCRG · ONUDI/CNT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99448" y="4956048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verte · readiness législatif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86600" y="3017520"/>
            <a:ext cx="2286000" cy="1005840"/>
          </a:xfrm>
          <a:prstGeom prst="roundRect">
            <a:avLst>
              <a:gd name="adj" fmla="val 8182"/>
            </a:avLst>
          </a:prstGeom>
          <a:solidFill>
            <a:srgbClr val="10603A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/ MEDD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Autorité stratégique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5989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instrument de deuxième génération qui institutionnalise durablement la finance climat en Guinée.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OBSTACLES ET RISQUES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reste à lever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932688"/>
          </a:xfrm>
          <a:prstGeom prst="roundRect">
            <a:avLst>
              <a:gd name="adj" fmla="val 5882"/>
            </a:avLst>
          </a:prstGeom>
          <a:solidFill>
            <a:srgbClr val="F7F9F7"/>
          </a:solidFill>
          <a:ln w="12700">
            <a:solidFill>
              <a:srgbClr val="D7E3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201168" cy="201168"/>
          </a:xfrm>
          <a:prstGeom prst="ellipse">
            <a:avLst/>
          </a:prstGeom>
          <a:solidFill>
            <a:srgbClr val="CE112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9164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FMCA non abouti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Division administrative et financière n'a pas passé le FMCA malgré plusieurs mois d'appui : la capacité fiduciaire nationale reste insuffisante.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111099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3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26664"/>
            <a:ext cx="201168" cy="201168"/>
          </a:xfrm>
          <a:prstGeom prst="ellipse">
            <a:avLst/>
          </a:prstGeom>
          <a:solidFill>
            <a:srgbClr val="CE112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7523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de l'AND trop faible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752344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opérationnel insuffisamment clair et robuste pour coordonner et suivre pleinement les politiques climatiques.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11109960" cy="932688"/>
          </a:xfrm>
          <a:prstGeom prst="roundRect">
            <a:avLst>
              <a:gd name="adj" fmla="val 5882"/>
            </a:avLst>
          </a:prstGeom>
          <a:solidFill>
            <a:srgbClr val="F7F9F7"/>
          </a:solidFill>
          <a:ln w="12700">
            <a:solidFill>
              <a:srgbClr val="D7E3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087368"/>
            <a:ext cx="201168" cy="201168"/>
          </a:xfrm>
          <a:prstGeom prst="ellipse">
            <a:avLst/>
          </a:prstGeom>
          <a:solidFill>
            <a:srgbClr val="B98A0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81304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 internes persistantes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813048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Archivage, procédures internes et coordination interinstitutionnelle encore fragiles.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111099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3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148072"/>
            <a:ext cx="201168" cy="201168"/>
          </a:xfrm>
          <a:prstGeom prst="ellipse">
            <a:avLst/>
          </a:prstGeom>
          <a:solidFill>
            <a:srgbClr val="10603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87375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du FVC (24 juin 2026)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87375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traiter pour la resoumission de la proposition iPMS#42160 ; tracker de révision ouvert.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résultats sont réels mais encore fragiles : plusieurs blocages structurels appellent un arbitrage.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LE DÉFI CENTRAL — GOUVERNANCE OPÉRATIONNELLE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système à consolider pour pérenniser les acquis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FBEDE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CE11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321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7393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Mandat et statut juridique insuffisants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1576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consultatif inadapté (organe consultatif du MEDD).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opérationnel flou, limitant la coordination.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fonctionnelle : pas de budget de fonctionnement propre.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572768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EAF3EE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801368"/>
            <a:ext cx="502920" cy="502920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9321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77393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Conflit d'intérêts ANAFIC — RÉSOLU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271576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effective des rôles : ANAFIC désormais uniquement delivery partner, sous le contrôle d'un examinateur tiers indépendant.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et crédibilité restaurées pour le processus d'accréditation.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572768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FFF7D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801368"/>
            <a:ext cx="502920" cy="502920"/>
          </a:xfrm>
          <a:prstGeom prst="ellipse">
            <a:avLst/>
          </a:prstGeom>
          <a:solidFill>
            <a:srgbClr val="B98A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9321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77393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Capacité administrative fragile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271576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Incubation inachevée : manque de RH spécialisées, de procédures et d'outils.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FMCA non abouti : évaluation de capacité financière non passée.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0603A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progrès sont réels, mais la gouvernance opérationnelle reste le talon d'Achille de l'AND : ces fragilités mettent en péril les financements futurs et l'accès direct au FVC.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IMPACT ET VALEUR CRÉÉE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capital institutionnel durable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840480"/>
                <a:gridCol w="461772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6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 (début 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6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Après (mi-2026)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603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 institutionnelle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E6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Dossiers dispersés, aucune passation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reconstruits, clarifiés et sécurisés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direct au FVC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E6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entité nationale accréditée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Trajectoire crédible ; proposition iPMS#42160 soumise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E6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Concertations ad hoc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Dialogue réactivé + outils réutilisables (logframe pays, trackers, matrices preuves-actions)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Crédibilité FVC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E6D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Visibilité affaiblie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rétabli avec le Secrétariat du FVC (Songdo, COP30)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L'effort engagé produit un capital institutionnel durable, au-delà de ce seul projet.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PERSPECTIVES 2025–2029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sur un pipeline bancable, porté par les institutions nationales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PLURIANNUEL DE READINESS — CIBLES À 36 MOIS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0" cy="777240"/>
          </a:xfrm>
          <a:prstGeom prst="roundRect">
            <a:avLst>
              <a:gd name="adj" fmla="val 8235"/>
            </a:avLst>
          </a:prstGeom>
          <a:solidFill>
            <a:srgbClr val="9CC3A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notes conceptuelles (CN) validées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2898648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4E8F6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9864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propositions complètes (FP)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71600" y="3831336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10603A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383133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Investissements à l'échelle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d'accompagnement : plan ANAFIC, CPEIR, législation finance verte (CNT/ONUDI), industrie verte, action climatique locale, poursuite du FMCA.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5361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PRIORITAIRE (FOURCHETTES INDICATIVES)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965960"/>
            <a:ext cx="2971800" cy="1783080"/>
          </a:xfrm>
          <a:prstGeom prst="roundRect">
            <a:avLst>
              <a:gd name="adj" fmla="val 4103"/>
            </a:avLst>
          </a:prstGeom>
          <a:solidFill>
            <a:srgbClr val="EAF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0720" y="2148840"/>
            <a:ext cx="475488" cy="475488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347" y="2272467"/>
            <a:ext cx="228234" cy="22823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55080" y="2167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30–70 M$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760720" y="28346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Solaire rural / mini-réseaux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0" y="1965960"/>
            <a:ext cx="2971800" cy="1783080"/>
          </a:xfrm>
          <a:prstGeom prst="roundRect">
            <a:avLst>
              <a:gd name="adj" fmla="val 4103"/>
            </a:avLst>
          </a:prstGeom>
          <a:solidFill>
            <a:srgbClr val="EAF3EE"/>
          </a:solidFill>
          <a:ln/>
        </p:spPr>
      </p:sp>
      <p:sp>
        <p:nvSpPr>
          <p:cNvPr id="19" name="Shape 16"/>
          <p:cNvSpPr/>
          <p:nvPr/>
        </p:nvSpPr>
        <p:spPr>
          <a:xfrm>
            <a:off x="8869680" y="2148840"/>
            <a:ext cx="475488" cy="475488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307" y="2272467"/>
            <a:ext cx="228234" cy="22823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464040" y="2167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40–90 M$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8869680" y="28346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Agri-climat et résilience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577840" y="3886200"/>
            <a:ext cx="2971800" cy="1783080"/>
          </a:xfrm>
          <a:prstGeom prst="roundRect">
            <a:avLst>
              <a:gd name="adj" fmla="val 4103"/>
            </a:avLst>
          </a:prstGeom>
          <a:solidFill>
            <a:srgbClr val="EAF3EE"/>
          </a:solidFill>
          <a:ln/>
        </p:spPr>
      </p:sp>
      <p:sp>
        <p:nvSpPr>
          <p:cNvPr id="24" name="Shape 20"/>
          <p:cNvSpPr/>
          <p:nvPr/>
        </p:nvSpPr>
        <p:spPr>
          <a:xfrm>
            <a:off x="5760720" y="4069080"/>
            <a:ext cx="475488" cy="475488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347" y="4192707"/>
            <a:ext cx="228234" cy="22823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4087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25–60 M$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5760720" y="4754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des mangroves (Guinée Maritime)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686800" y="3886200"/>
            <a:ext cx="2971800" cy="1783080"/>
          </a:xfrm>
          <a:prstGeom prst="roundRect">
            <a:avLst>
              <a:gd name="adj" fmla="val 4103"/>
            </a:avLst>
          </a:prstGeom>
          <a:solidFill>
            <a:srgbClr val="EAF3EE"/>
          </a:solidFill>
          <a:ln/>
        </p:spPr>
      </p:sp>
      <p:sp>
        <p:nvSpPr>
          <p:cNvPr id="29" name="Shape 24"/>
          <p:cNvSpPr/>
          <p:nvPr/>
        </p:nvSpPr>
        <p:spPr>
          <a:xfrm>
            <a:off x="8869680" y="4069080"/>
            <a:ext cx="475488" cy="475488"/>
          </a:xfrm>
          <a:prstGeom prst="ellipse">
            <a:avLst/>
          </a:prstGeom>
          <a:solidFill>
            <a:srgbClr val="10603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307" y="4192707"/>
            <a:ext cx="228234" cy="22823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64040" y="4087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20–50 M$</a:t>
            </a:r>
            <a:endParaRPr lang="en-US" sz="1900" dirty="0"/>
          </a:p>
        </p:txBody>
      </p:sp>
      <p:sp>
        <p:nvSpPr>
          <p:cNvPr id="32" name="Text 26"/>
          <p:cNvSpPr/>
          <p:nvPr/>
        </p:nvSpPr>
        <p:spPr>
          <a:xfrm>
            <a:off x="8869680" y="4754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PME vertes (Access Bank)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48640" y="594360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FFF7DB"/>
          </a:solidFill>
          <a:ln/>
        </p:spPr>
      </p:sp>
      <p:sp>
        <p:nvSpPr>
          <p:cNvPr id="34" name="Text 28"/>
          <p:cNvSpPr/>
          <p:nvPr/>
        </p:nvSpPr>
        <p:spPr>
          <a:xfrm>
            <a:off x="868680" y="5943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de plusieurs centaines de millions USD si la préparation aboutit — sous réserve expresse de l'accréditation et de la qualité des dossiers. Montants indicatifs.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RECOMMANDATIONS — GOUVERNANCE OPÉRATIONNELLE RENFORCÉE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décisions attendues de Madame la Ministre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0" y="13167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CONCRÈTE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275320" y="13167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ATTENDU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607040" y="13167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109960" cy="1170432"/>
          </a:xfrm>
          <a:prstGeom prst="roundRect">
            <a:avLst>
              <a:gd name="adj" fmla="val 5469"/>
            </a:avLst>
          </a:prstGeom>
          <a:solidFill>
            <a:srgbClr val="EAF3E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911096"/>
            <a:ext cx="493776" cy="493776"/>
          </a:xfrm>
          <a:prstGeom prst="ellipse">
            <a:avLst/>
          </a:prstGeom>
          <a:solidFill>
            <a:srgbClr val="10603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11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682496"/>
            <a:ext cx="2926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et renforcer le mandat de l'AND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682496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renforcement institutionnel : archivage, gestion des connaissances, suivi des engagements, réactivation des comités (pilotage, technique).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75320" y="1682496"/>
            <a:ext cx="2194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Autorité et légitimité renforcées pour coordonner la stratégie climat nationale.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607040" y="2002536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B98A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60704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VALIDER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11109960" cy="1170432"/>
          </a:xfrm>
          <a:prstGeom prst="roundRect">
            <a:avLst>
              <a:gd name="adj" fmla="val 5469"/>
            </a:avLst>
          </a:prstGeom>
          <a:solidFill>
            <a:srgbClr val="EAF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227832"/>
            <a:ext cx="493776" cy="493776"/>
          </a:xfrm>
          <a:prstGeom prst="ellipse">
            <a:avLst/>
          </a:prstGeom>
          <a:solidFill>
            <a:srgbClr val="10603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2999232"/>
            <a:ext cx="2926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Instituer la Plateforme Nationale de Coordination Climat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2999232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l'arrêté instituant la Plateforme, avec mobilisation permanente du MEF et de la BCRG.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75320" y="2999232"/>
            <a:ext cx="2194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pérenne de concertation interministérielle et d'alignement budgétaire.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07040" y="3319272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B98A00"/>
          </a:solidFill>
          <a:ln/>
        </p:spPr>
      </p:sp>
      <p:sp>
        <p:nvSpPr>
          <p:cNvPr id="22" name="Text 20"/>
          <p:cNvSpPr/>
          <p:nvPr/>
        </p:nvSpPr>
        <p:spPr>
          <a:xfrm>
            <a:off x="10607040" y="33192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VALIDER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109960" cy="1170432"/>
          </a:xfrm>
          <a:prstGeom prst="roundRect">
            <a:avLst>
              <a:gd name="adj" fmla="val 5469"/>
            </a:avLst>
          </a:prstGeom>
          <a:solidFill>
            <a:srgbClr val="EAF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544568"/>
            <a:ext cx="493776" cy="493776"/>
          </a:xfrm>
          <a:prstGeom prst="ellipse">
            <a:avLst/>
          </a:prstGeom>
          <a:solidFill>
            <a:srgbClr val="10603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44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4315968"/>
            <a:ext cx="2926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 readiness et le pipeline de projets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315968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Finaliser les readiness prioritaires (CPEIR, législation finance verte, action locale) et arbitrer le pipeline sectoriel.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5320" y="4315968"/>
            <a:ext cx="2194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des investissements à l'échelle (plusieurs centaines de M$).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607040" y="4636008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B98A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607040" y="46360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VALIDER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0603A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623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d'étape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séparation des rôles ANAFIC/AND est désormais effective et formalisée, sécurisant la gouvernance du projet Readiness de 2,76 M$. L'AND est prête à exécuter dès l'aval de Madame la Ministre sur les trois points restants.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RÉSUMÉ EXÉCUTIF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synthèse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AF3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PROGRÈS MAJEURS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d'accès direct soumise (iPMS#42160).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2,76 M$ quasi finalisé.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documents institutionnels revus.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réactivé avec l'écosystème climat.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AF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0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BLOCAGE RÉSOLU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des rôles ANAFIC/AND effective et formalisée : ANAFIC uniquement delivery partner, examinateur tiers indépendant.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BEDE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42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E1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PERSISTANTS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50799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et statut juridique de l'AND trop faibles.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fiduciaire nationale insuffisante (FMCA non abouti).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97764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FF7D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142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CLÉS ATTENDUES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50799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Renforcer le mandat de l'AND.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Instituer la Plateforme Nationale de Coordination Climat.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Prioriser le readiness et le pipeline.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06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bilan orienté décision : les acquis sont réels, les trois validations ministérielles débloqueront la suite de la trajectoire.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55448" cy="23317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" y="566928"/>
            <a:ext cx="155448" cy="23317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566928"/>
            <a:ext cx="155448" cy="233172"/>
          </a:xfrm>
          <a:prstGeom prst="rect">
            <a:avLst/>
          </a:prstGeom>
          <a:solidFill>
            <a:srgbClr val="00946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5303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DE GUINÉE  ·  MEDD  ·  AND-FVC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L'AND-FVC est prête à exécuter le programme de transformation dès votre aval, Madame la Ministre.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5193792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Secrétariat Exécutif de l'AND-FVC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l'Environnement et du Développement Durable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Conakry, République de Guinée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2026-07-31T01:30:36Z</dcterms:created>
  <dcterms:modified xsi:type="dcterms:W3CDTF">2026-07-31T01:30:36Z</dcterms:modified>
</cp:coreProperties>
</file>